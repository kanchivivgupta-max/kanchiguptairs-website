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000" b="1">
                <a:solidFill>
                  <a:srgbClr val="7170FF"/>
                </a:solidFill>
                <a:latin typeface="Arial"/>
              </a:defRPr>
            </a:pPr>
            <a:r>
              <a:t>The Algorithmic Administrator: Integrating Legal-Tech and Data Audits in Modern Governance</a:t>
            </a:r>
          </a:p>
          <a:p>
            <a:pPr algn="ctr">
              <a:spcAft>
                <a:spcPts val="4000"/>
              </a:spcAft>
              <a:defRPr sz="1600">
                <a:solidFill>
                  <a:srgbClr val="8A8F98"/>
                </a:solidFill>
                <a:latin typeface="Arial"/>
              </a:defRPr>
            </a:pPr>
            <a:r>
              <a:t>Professional Skilling &amp; Adaptation in Public Service</a:t>
            </a:r>
          </a:p>
          <a:p>
            <a:pPr algn="ctr">
              <a:defRPr sz="1300" b="1">
                <a:solidFill>
                  <a:srgbClr val="F7F8F8"/>
                </a:solidFill>
                <a:latin typeface="Arial"/>
              </a:defRPr>
            </a:pPr>
            <a:r>
              <a:t>Kanchi Gupta, Joint Commissioner (IRS)</a:t>
            </a:r>
          </a:p>
          <a:p>
            <a:pPr algn="ctr">
              <a:defRPr sz="1000">
                <a:solidFill>
                  <a:srgbClr val="8A8F98"/>
                </a:solidFill>
                <a:latin typeface="Courier New"/>
              </a:defRPr>
            </a:pPr>
            <a:r>
              <a:t>B.Tech (VNIT Nagpur) · M.Tech (IIT Bombay) · LL.B. (GLC Mumbai)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Arial"/>
              </a:defRPr>
            </a:pPr>
            <a:r>
              <a:t>The Lifelong Learning Loop   ·   Slide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7F8F8"/>
                </a:solidFill>
                <a:latin typeface="Arial"/>
              </a:defRPr>
            </a:pPr>
            <a:r>
              <a:t>1. The Data-Dense Audit: Moving from Samples to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Arial"/>
              </a:defRPr>
            </a:pPr>
            <a:r>
              <a:t>The Lifelong Learning Loop   ·   Slide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7F8F8"/>
                </a:solidFill>
                <a:latin typeface="Arial"/>
              </a:defRPr>
            </a:pPr>
            <a:r>
              <a:t>2. Stateful Log Analysis: Enforcing Procedural Integrity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8F98"/>
                </a:solidFill>
                <a:latin typeface="Arial"/>
              </a:defRPr>
            </a:pPr>
            <a:r>
              <a:t>The Lifelong Learning Loop   ·   Slide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800" b="1">
                <a:solidFill>
                  <a:srgbClr val="F7F8F8"/>
                </a:solidFill>
                <a:latin typeface="Arial"/>
              </a:defRPr>
            </a:pPr>
            <a:r>
              <a:t>3. The Human-in-the-Loop Safeguard: The Adjudication Console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